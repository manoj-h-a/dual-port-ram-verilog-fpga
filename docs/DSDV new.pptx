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71" r:id="rId2"/>
    <p:sldId id="257" r:id="rId3"/>
    <p:sldId id="258" r:id="rId4"/>
    <p:sldId id="272" r:id="rId5"/>
    <p:sldId id="259" r:id="rId6"/>
    <p:sldId id="269" r:id="rId7"/>
    <p:sldId id="260" r:id="rId8"/>
    <p:sldId id="267" r:id="rId9"/>
    <p:sldId id="261" r:id="rId10"/>
    <p:sldId id="262" r:id="rId11"/>
    <p:sldId id="273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6095A59-6DD6-43AC-97E6-F61B17400949}">
          <p14:sldIdLst>
            <p14:sldId id="271"/>
            <p14:sldId id="257"/>
            <p14:sldId id="258"/>
            <p14:sldId id="272"/>
            <p14:sldId id="259"/>
            <p14:sldId id="269"/>
            <p14:sldId id="260"/>
            <p14:sldId id="267"/>
            <p14:sldId id="261"/>
            <p14:sldId id="262"/>
            <p14:sldId id="273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36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07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97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006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307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62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96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284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15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24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662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08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224A77A-B1D6-4BC2-8B8C-5DCB68A890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E37BFD7-F8ED-4B64-8E6F-3792D6799D4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2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odhganga@INFLIBNET: KLE Technological ...">
            <a:extLst>
              <a:ext uri="{FF2B5EF4-FFF2-40B4-BE49-F238E27FC236}">
                <a16:creationId xmlns:a16="http://schemas.microsoft.com/office/drawing/2014/main" id="{E2231B6C-5394-B02D-5D8D-28BDCC984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266" y="114310"/>
            <a:ext cx="6129993" cy="103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474288-B4F7-9AB1-D450-B4C9E4121240}"/>
              </a:ext>
            </a:extLst>
          </p:cNvPr>
          <p:cNvSpPr txBox="1"/>
          <p:nvPr/>
        </p:nvSpPr>
        <p:spPr>
          <a:xfrm>
            <a:off x="1134533" y="16580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DIGITAL SYSTEM</a:t>
            </a:r>
            <a:br>
              <a:rPr lang="en-US" sz="3600" b="1" dirty="0"/>
            </a:br>
            <a:r>
              <a:rPr lang="en-US" sz="3600" b="1" dirty="0"/>
              <a:t>DESIGN AND VERILOG</a:t>
            </a:r>
            <a:endParaRPr lang="en-I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54B3E-BB30-7241-F828-940D1F3BF61A}"/>
              </a:ext>
            </a:extLst>
          </p:cNvPr>
          <p:cNvSpPr txBox="1"/>
          <p:nvPr/>
        </p:nvSpPr>
        <p:spPr>
          <a:xfrm>
            <a:off x="685801" y="3349880"/>
            <a:ext cx="27516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OPEN ENDED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b="1" u="sng" dirty="0"/>
              <a:t>B - DIV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b="1" u="sng" dirty="0"/>
              <a:t>TEAM - 9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07E800-8CA6-A8E3-5D5F-CDC63E63C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717896"/>
              </p:ext>
            </p:extLst>
          </p:nvPr>
        </p:nvGraphicFramePr>
        <p:xfrm>
          <a:off x="3903260" y="4236458"/>
          <a:ext cx="8127999" cy="192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175439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0195063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7469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328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 SAI LAKSHMI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01FE24BEC076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203203"/>
                  </a:ext>
                </a:extLst>
              </a:tr>
              <a:tr h="443654">
                <a:tc>
                  <a:txBody>
                    <a:bodyPr/>
                    <a:lstStyle/>
                    <a:p>
                      <a:r>
                        <a:rPr lang="en-US" dirty="0"/>
                        <a:t>MANOJ H A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01FE24BEC077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96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ADITYA P V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01FE24BEC078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509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YOGESH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01FE24BEC079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07666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D64BD35-1973-835C-7293-9D288B82B888}"/>
              </a:ext>
            </a:extLst>
          </p:cNvPr>
          <p:cNvSpPr txBox="1"/>
          <p:nvPr/>
        </p:nvSpPr>
        <p:spPr>
          <a:xfrm>
            <a:off x="3903260" y="37534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Team Information: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4324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DF16-C82E-A649-7A27-D7D6986C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4934"/>
            <a:ext cx="10515600" cy="1210734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INTRODUCTION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28B74-DAC5-D8FD-2FB7-CFAC4C169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267" y="2336799"/>
            <a:ext cx="9271000" cy="3890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Dual-port RAM (DPRAM) is a special type of memory that allows two devices or processors to access the same memory simultaneously through two independent ports.</a:t>
            </a:r>
          </a:p>
          <a:p>
            <a:pPr marL="0" indent="0">
              <a:buNone/>
            </a:pPr>
            <a:r>
              <a:rPr lang="en-IN" sz="2400" b="1" dirty="0"/>
              <a:t>Key Features :</a:t>
            </a:r>
            <a:endParaRPr lang="en-US" sz="2400" b="1" dirty="0"/>
          </a:p>
          <a:p>
            <a:r>
              <a:rPr lang="en-US" sz="2000" dirty="0"/>
              <a:t>Ports operate without interfering when accessing different addresses</a:t>
            </a:r>
            <a:r>
              <a:rPr lang="en-US" dirty="0"/>
              <a:t>.</a:t>
            </a:r>
            <a:endParaRPr lang="en-US" sz="2000" dirty="0"/>
          </a:p>
          <a:p>
            <a:r>
              <a:rPr lang="en-US" sz="2000" dirty="0"/>
              <a:t>It boosts performance in multi-processor systems by enabling parallel memory access.</a:t>
            </a:r>
          </a:p>
          <a:p>
            <a:r>
              <a:rPr lang="en-US" sz="2000" dirty="0"/>
              <a:t>No waiting occurs when ports access different memory addresses in dual-port RAM</a:t>
            </a:r>
            <a:r>
              <a:rPr lang="en-US" dirty="0"/>
              <a:t>.</a:t>
            </a:r>
            <a:endParaRPr lang="en-IN" sz="2000" dirty="0"/>
          </a:p>
        </p:txBody>
      </p:sp>
      <p:pic>
        <p:nvPicPr>
          <p:cNvPr id="8" name="Picture 7" descr="Shodhganga@INFLIBNET: KLE Technological ...">
            <a:extLst>
              <a:ext uri="{FF2B5EF4-FFF2-40B4-BE49-F238E27FC236}">
                <a16:creationId xmlns:a16="http://schemas.microsoft.com/office/drawing/2014/main" id="{E2231B6C-5394-B02D-5D8D-28BDCC984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126480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88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E065-850F-2772-B189-A5921272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6" y="827087"/>
            <a:ext cx="10515600" cy="81015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BLOCK DIAGRAM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AB6F5BE1-681B-711F-9E08-1B19BA1E6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940" y="1846263"/>
            <a:ext cx="6036445" cy="4022725"/>
          </a:xfrm>
        </p:spPr>
      </p:pic>
      <p:pic>
        <p:nvPicPr>
          <p:cNvPr id="20" name="Picture 19" descr="Shodhganga@INFLIBNET: KLE Technological ...">
            <a:extLst>
              <a:ext uri="{FF2B5EF4-FFF2-40B4-BE49-F238E27FC236}">
                <a16:creationId xmlns:a16="http://schemas.microsoft.com/office/drawing/2014/main" id="{1012BD0E-EBDB-71F9-8B83-E605D9AAB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109546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078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92B8-AE91-ABF7-FD95-C6A226AA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FLOW CHART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5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ACE13A41-96E0-5B07-BFAC-9912B49DF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0156" y="1846263"/>
            <a:ext cx="5112013" cy="4022725"/>
          </a:xfrm>
          <a:prstGeom prst="rect">
            <a:avLst/>
          </a:prstGeom>
        </p:spPr>
      </p:pic>
      <p:pic>
        <p:nvPicPr>
          <p:cNvPr id="3" name="Picture 2" descr="Shodhganga@INFLIBNET: KLE Technological ...">
            <a:extLst>
              <a:ext uri="{FF2B5EF4-FFF2-40B4-BE49-F238E27FC236}">
                <a16:creationId xmlns:a16="http://schemas.microsoft.com/office/drawing/2014/main" id="{4FD6B678-B361-0E80-BF0F-8AC5F069A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109546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B4AD-B3F8-F06F-36E0-728205555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89796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VERLOG CODE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E2CDAEB-78DC-85E2-C751-61658A20C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800" y="1853458"/>
            <a:ext cx="10515600" cy="44396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`timescale 1ns / 1ps</a:t>
            </a:r>
          </a:p>
          <a:p>
            <a:pPr marL="0" indent="0">
              <a:buNone/>
            </a:pPr>
            <a:r>
              <a:rPr lang="en-IN" sz="2000" dirty="0"/>
              <a:t>module dual (</a:t>
            </a:r>
          </a:p>
          <a:p>
            <a:pPr marL="0" indent="0">
              <a:buNone/>
            </a:pPr>
            <a:r>
              <a:rPr lang="en-IN" sz="2000" dirty="0"/>
              <a:t>input </a:t>
            </a:r>
            <a:r>
              <a:rPr lang="en-IN" sz="2000" dirty="0" err="1"/>
              <a:t>clk</a:t>
            </a:r>
            <a:r>
              <a:rPr lang="en-IN" sz="2000" dirty="0"/>
              <a:t>,</a:t>
            </a:r>
          </a:p>
          <a:p>
            <a:pPr marL="0" indent="0">
              <a:buNone/>
            </a:pPr>
            <a:r>
              <a:rPr lang="en-IN" sz="2000" dirty="0"/>
              <a:t>input we,</a:t>
            </a:r>
          </a:p>
          <a:p>
            <a:pPr marL="0" indent="0">
              <a:buNone/>
            </a:pPr>
            <a:r>
              <a:rPr lang="en-IN" sz="2000" dirty="0"/>
              <a:t>input din,</a:t>
            </a:r>
          </a:p>
          <a:p>
            <a:pPr marL="0" indent="0">
              <a:buNone/>
            </a:pPr>
            <a:r>
              <a:rPr lang="en-IN" sz="2000" dirty="0"/>
              <a:t>input [1:0] </a:t>
            </a:r>
            <a:r>
              <a:rPr lang="en-IN" sz="2000" dirty="0" err="1"/>
              <a:t>waddr</a:t>
            </a:r>
            <a:r>
              <a:rPr lang="en-IN" sz="2000" dirty="0"/>
              <a:t>,</a:t>
            </a:r>
          </a:p>
          <a:p>
            <a:pPr marL="0" indent="0">
              <a:buNone/>
            </a:pPr>
            <a:r>
              <a:rPr lang="en-IN" sz="2000" dirty="0"/>
              <a:t>input [1:0] </a:t>
            </a:r>
            <a:r>
              <a:rPr lang="en-IN" sz="2000" dirty="0" err="1"/>
              <a:t>raddr_a</a:t>
            </a:r>
            <a:r>
              <a:rPr lang="en-IN" sz="2000" dirty="0"/>
              <a:t>,</a:t>
            </a:r>
          </a:p>
          <a:p>
            <a:pPr marL="0" indent="0">
              <a:buNone/>
            </a:pPr>
            <a:r>
              <a:rPr lang="en-IN" sz="2000" dirty="0"/>
              <a:t>input [1:0] </a:t>
            </a:r>
            <a:r>
              <a:rPr lang="en-IN" sz="2000" dirty="0" err="1"/>
              <a:t>raddr_b</a:t>
            </a:r>
            <a:r>
              <a:rPr lang="en-IN" sz="2000" dirty="0"/>
              <a:t>,</a:t>
            </a:r>
          </a:p>
          <a:p>
            <a:pPr marL="0" indent="0">
              <a:buNone/>
            </a:pPr>
            <a:r>
              <a:rPr lang="en-IN" sz="2000" dirty="0"/>
              <a:t>output reg a,</a:t>
            </a:r>
          </a:p>
          <a:p>
            <a:pPr marL="0" indent="0">
              <a:buNone/>
            </a:pPr>
            <a:r>
              <a:rPr lang="en-IN" sz="2000" dirty="0"/>
              <a:t>output reg b</a:t>
            </a:r>
            <a:r>
              <a:rPr lang="en-IN" dirty="0"/>
              <a:t> );</a:t>
            </a:r>
            <a:endParaRPr lang="en-IN" sz="2000" dirty="0"/>
          </a:p>
        </p:txBody>
      </p:sp>
      <p:pic>
        <p:nvPicPr>
          <p:cNvPr id="10" name="Picture 9" descr="Shodhganga@INFLIBNET: KLE Technological ...">
            <a:extLst>
              <a:ext uri="{FF2B5EF4-FFF2-40B4-BE49-F238E27FC236}">
                <a16:creationId xmlns:a16="http://schemas.microsoft.com/office/drawing/2014/main" id="{69BBFD5D-87A5-3CFE-B2FD-9F046AF60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109546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084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2295-8703-CFB1-EB62-0B2A0537C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D6C6BD-9FCE-63E6-1D64-69A9BD4F4107}"/>
              </a:ext>
            </a:extLst>
          </p:cNvPr>
          <p:cNvSpPr txBox="1"/>
          <p:nvPr/>
        </p:nvSpPr>
        <p:spPr>
          <a:xfrm>
            <a:off x="914400" y="450209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reg mem [3:0];</a:t>
            </a:r>
          </a:p>
          <a:p>
            <a:pPr marL="0" indent="0">
              <a:buNone/>
            </a:pPr>
            <a:r>
              <a:rPr lang="en-IN" sz="1800" dirty="0"/>
              <a:t>integer </a:t>
            </a:r>
            <a:r>
              <a:rPr lang="en-IN" sz="1800" dirty="0" err="1"/>
              <a:t>i</a:t>
            </a:r>
            <a:r>
              <a:rPr lang="en-IN" sz="1800" dirty="0"/>
              <a:t> ;</a:t>
            </a:r>
          </a:p>
          <a:p>
            <a:pPr marL="0" indent="0">
              <a:buNone/>
            </a:pPr>
            <a:r>
              <a:rPr lang="en-IN" sz="1800" dirty="0"/>
              <a:t>initial begin</a:t>
            </a:r>
          </a:p>
          <a:p>
            <a:pPr marL="0" indent="0">
              <a:buNone/>
            </a:pPr>
            <a:r>
              <a:rPr lang="en-IN" sz="1800" dirty="0"/>
              <a:t>for (</a:t>
            </a:r>
            <a:r>
              <a:rPr lang="en-IN" sz="1800" dirty="0" err="1"/>
              <a:t>i</a:t>
            </a:r>
            <a:r>
              <a:rPr lang="en-IN" sz="1800" dirty="0"/>
              <a:t> = 0; </a:t>
            </a:r>
            <a:r>
              <a:rPr lang="en-IN" sz="1800" dirty="0" err="1"/>
              <a:t>i</a:t>
            </a:r>
            <a:r>
              <a:rPr lang="en-IN" sz="1800" dirty="0"/>
              <a:t> &lt; 4; </a:t>
            </a:r>
            <a:r>
              <a:rPr lang="en-IN" sz="1800" dirty="0" err="1"/>
              <a:t>i</a:t>
            </a:r>
            <a:r>
              <a:rPr lang="en-IN" sz="1800" dirty="0"/>
              <a:t> = </a:t>
            </a:r>
            <a:r>
              <a:rPr lang="en-IN" sz="1800" dirty="0" err="1"/>
              <a:t>i</a:t>
            </a:r>
            <a:r>
              <a:rPr lang="en-IN" sz="1800" dirty="0"/>
              <a:t> + 1)</a:t>
            </a:r>
          </a:p>
          <a:p>
            <a:pPr marL="0" indent="0">
              <a:buNone/>
            </a:pPr>
            <a:r>
              <a:rPr lang="en-IN" sz="1800" dirty="0"/>
              <a:t> mem[</a:t>
            </a:r>
            <a:r>
              <a:rPr lang="en-IN" sz="1800" dirty="0" err="1"/>
              <a:t>i</a:t>
            </a:r>
            <a:r>
              <a:rPr lang="en-IN" sz="1800" dirty="0"/>
              <a:t>] = 8'b0;</a:t>
            </a:r>
          </a:p>
          <a:p>
            <a:pPr marL="0" indent="0">
              <a:buNone/>
            </a:pPr>
            <a:r>
              <a:rPr lang="en-IN" sz="1800" dirty="0"/>
              <a:t>end</a:t>
            </a:r>
          </a:p>
          <a:p>
            <a:pPr marL="0" indent="0">
              <a:buNone/>
            </a:pPr>
            <a:r>
              <a:rPr lang="en-IN" sz="2000" dirty="0"/>
              <a:t>always</a:t>
            </a:r>
            <a:r>
              <a:rPr lang="en-IN" sz="1800" dirty="0"/>
              <a:t> @(posedge </a:t>
            </a:r>
            <a:r>
              <a:rPr lang="en-IN" sz="1800" dirty="0" err="1"/>
              <a:t>clk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 begin</a:t>
            </a:r>
          </a:p>
          <a:p>
            <a:pPr marL="0" indent="0">
              <a:buNone/>
            </a:pPr>
            <a:r>
              <a:rPr lang="en-IN" sz="1800" dirty="0"/>
              <a:t> if (we)</a:t>
            </a:r>
          </a:p>
          <a:p>
            <a:pPr marL="0" indent="0">
              <a:buNone/>
            </a:pPr>
            <a:r>
              <a:rPr lang="en-IN" sz="1800" dirty="0"/>
              <a:t>mem[</a:t>
            </a:r>
            <a:r>
              <a:rPr lang="en-IN" sz="1800" dirty="0" err="1"/>
              <a:t>waddr</a:t>
            </a:r>
            <a:r>
              <a:rPr lang="en-IN" sz="1800" dirty="0"/>
              <a:t>] &lt;= din; </a:t>
            </a:r>
          </a:p>
          <a:p>
            <a:pPr marL="0" indent="0">
              <a:buNone/>
            </a:pPr>
            <a:r>
              <a:rPr lang="en-IN" sz="1800" dirty="0"/>
              <a:t>a &lt;= mem[</a:t>
            </a:r>
            <a:r>
              <a:rPr lang="en-IN" sz="1800" dirty="0" err="1"/>
              <a:t>raddr_a</a:t>
            </a:r>
            <a:r>
              <a:rPr lang="en-IN" sz="1800" dirty="0"/>
              <a:t>];</a:t>
            </a:r>
          </a:p>
          <a:p>
            <a:pPr marL="0" indent="0">
              <a:buNone/>
            </a:pPr>
            <a:r>
              <a:rPr lang="en-IN" sz="1800" dirty="0"/>
              <a:t>b &lt;= mem[</a:t>
            </a:r>
            <a:r>
              <a:rPr lang="en-IN" sz="1800" dirty="0" err="1"/>
              <a:t>raddr_b</a:t>
            </a:r>
            <a:r>
              <a:rPr lang="en-IN" sz="1800" dirty="0"/>
              <a:t>];</a:t>
            </a:r>
          </a:p>
          <a:p>
            <a:pPr marL="0" indent="0">
              <a:buNone/>
            </a:pPr>
            <a:r>
              <a:rPr lang="en-IN" sz="1800" dirty="0"/>
              <a:t>end</a:t>
            </a:r>
          </a:p>
          <a:p>
            <a:pPr marL="0" indent="0">
              <a:buNone/>
            </a:pPr>
            <a:r>
              <a:rPr lang="en-IN" sz="1800" dirty="0" err="1"/>
              <a:t>endmodule</a:t>
            </a:r>
            <a:endParaRPr lang="en-IN" sz="1800" dirty="0"/>
          </a:p>
        </p:txBody>
      </p:sp>
      <p:pic>
        <p:nvPicPr>
          <p:cNvPr id="2" name="Picture 1" descr="Shodhganga@INFLIBNET: KLE Technological ...">
            <a:extLst>
              <a:ext uri="{FF2B5EF4-FFF2-40B4-BE49-F238E27FC236}">
                <a16:creationId xmlns:a16="http://schemas.microsoft.com/office/drawing/2014/main" id="{CC672FD3-8D2A-AA7D-EAF0-4AA5D3CE1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101079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819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5CCA-795D-E76F-2C07-B65D7AB22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079"/>
            <a:ext cx="10515600" cy="1522669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TEST BENCH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DDF0BEC-EC86-2C08-FFBA-8C022473E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2866" y="1847582"/>
            <a:ext cx="11463865" cy="44280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`timescale 1ns / 1ps</a:t>
            </a:r>
          </a:p>
          <a:p>
            <a:pPr marL="0" indent="0">
              <a:buNone/>
            </a:pPr>
            <a:r>
              <a:rPr lang="en-IN" sz="2000" dirty="0"/>
              <a:t>module </a:t>
            </a:r>
            <a:r>
              <a:rPr lang="en-IN" sz="2000" dirty="0" err="1"/>
              <a:t>dualtb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reg </a:t>
            </a:r>
            <a:r>
              <a:rPr lang="en-IN" sz="2000" dirty="0" err="1"/>
              <a:t>clk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reg we;</a:t>
            </a:r>
          </a:p>
          <a:p>
            <a:pPr marL="0" indent="0">
              <a:buNone/>
            </a:pPr>
            <a:r>
              <a:rPr lang="en-IN" sz="2000" dirty="0"/>
              <a:t>reg din;</a:t>
            </a:r>
          </a:p>
          <a:p>
            <a:pPr marL="0" indent="0">
              <a:buNone/>
            </a:pPr>
            <a:r>
              <a:rPr lang="en-IN" sz="2000" dirty="0"/>
              <a:t>reg [1:0] </a:t>
            </a:r>
            <a:r>
              <a:rPr lang="en-IN" sz="2000" dirty="0" err="1"/>
              <a:t>waddr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reg [1:0] </a:t>
            </a:r>
            <a:r>
              <a:rPr lang="en-IN" sz="2000" dirty="0" err="1"/>
              <a:t>raddr_a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reg [1:0] </a:t>
            </a:r>
            <a:r>
              <a:rPr lang="en-IN" sz="2000" dirty="0" err="1"/>
              <a:t>raddr</a:t>
            </a:r>
            <a:r>
              <a:rPr lang="en-IN" sz="2000" dirty="0"/>
              <a:t> _b;</a:t>
            </a:r>
          </a:p>
          <a:p>
            <a:pPr marL="0" indent="0">
              <a:buNone/>
            </a:pPr>
            <a:r>
              <a:rPr lang="en-IN" sz="2000" dirty="0"/>
              <a:t>wire a;</a:t>
            </a:r>
          </a:p>
          <a:p>
            <a:pPr marL="0" indent="0">
              <a:buNone/>
            </a:pPr>
            <a:r>
              <a:rPr lang="en-IN" sz="2000" dirty="0"/>
              <a:t>wire b;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11" name="Picture 10" descr="Shodhganga@INFLIBNET: KLE Technological ...">
            <a:extLst>
              <a:ext uri="{FF2B5EF4-FFF2-40B4-BE49-F238E27FC236}">
                <a16:creationId xmlns:a16="http://schemas.microsoft.com/office/drawing/2014/main" id="{9158F4B3-5217-81AA-CCA1-87BC7EACB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101079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22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1A1629-0034-8693-89C4-3974BC38B58D}"/>
              </a:ext>
            </a:extLst>
          </p:cNvPr>
          <p:cNvSpPr txBox="1"/>
          <p:nvPr/>
        </p:nvSpPr>
        <p:spPr>
          <a:xfrm>
            <a:off x="660400" y="92612"/>
            <a:ext cx="6350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dual </a:t>
            </a:r>
            <a:r>
              <a:rPr lang="en-IN" sz="2000" dirty="0" err="1"/>
              <a:t>uut</a:t>
            </a:r>
            <a:r>
              <a:rPr lang="en-IN" sz="2000" dirty="0"/>
              <a:t> (</a:t>
            </a:r>
            <a:r>
              <a:rPr lang="en-IN" sz="2000" dirty="0" err="1"/>
              <a:t>clk</a:t>
            </a:r>
            <a:r>
              <a:rPr lang="en-IN" sz="2000" dirty="0"/>
              <a:t>, we, din, </a:t>
            </a:r>
            <a:r>
              <a:rPr lang="en-IN" sz="2000" dirty="0" err="1"/>
              <a:t>waddr</a:t>
            </a:r>
            <a:r>
              <a:rPr lang="en-IN" sz="2000" dirty="0"/>
              <a:t>, </a:t>
            </a:r>
            <a:r>
              <a:rPr lang="en-IN" sz="2000" dirty="0" err="1"/>
              <a:t>raddr_a</a:t>
            </a:r>
            <a:r>
              <a:rPr lang="en-IN" sz="2000" dirty="0"/>
              <a:t>, </a:t>
            </a:r>
            <a:r>
              <a:rPr lang="en-IN" sz="2000" dirty="0" err="1"/>
              <a:t>raddr_b</a:t>
            </a:r>
            <a:r>
              <a:rPr lang="en-IN" sz="2000" dirty="0"/>
              <a:t>, a, b);</a:t>
            </a:r>
          </a:p>
          <a:p>
            <a:r>
              <a:rPr lang="en-IN" sz="2000" dirty="0"/>
              <a:t>always #5  </a:t>
            </a:r>
            <a:r>
              <a:rPr lang="en-IN" sz="2000" dirty="0" err="1"/>
              <a:t>clk</a:t>
            </a:r>
            <a:r>
              <a:rPr lang="en-IN" sz="2000" dirty="0"/>
              <a:t> = ~</a:t>
            </a:r>
            <a:r>
              <a:rPr lang="en-IN" sz="2000" dirty="0" err="1"/>
              <a:t>clk</a:t>
            </a:r>
            <a:r>
              <a:rPr lang="en-IN" sz="2000" dirty="0"/>
              <a:t> ;</a:t>
            </a:r>
          </a:p>
          <a:p>
            <a:r>
              <a:rPr lang="en-IN" sz="2000" dirty="0"/>
              <a:t>initial begin</a:t>
            </a:r>
            <a:endParaRPr lang="en-IN" sz="2000" dirty="0">
              <a:latin typeface="Calibri (Body)"/>
            </a:endParaRPr>
          </a:p>
          <a:p>
            <a:r>
              <a:rPr lang="en-IN" sz="2000" dirty="0" err="1">
                <a:latin typeface="Calibri (Body)"/>
              </a:rPr>
              <a:t>clk</a:t>
            </a:r>
            <a:r>
              <a:rPr lang="en-IN" sz="2000" dirty="0">
                <a:latin typeface="Calibri (Body)"/>
              </a:rPr>
              <a:t> = 0; we = 0; din = 0; </a:t>
            </a:r>
            <a:r>
              <a:rPr lang="en-IN" sz="2000" dirty="0" err="1">
                <a:latin typeface="Calibri (Body)"/>
              </a:rPr>
              <a:t>waddr</a:t>
            </a:r>
            <a:r>
              <a:rPr lang="en-IN" sz="2000" dirty="0">
                <a:latin typeface="Calibri (Body)"/>
              </a:rPr>
              <a:t> = 0;  </a:t>
            </a:r>
            <a:r>
              <a:rPr lang="en-IN" sz="2000" dirty="0" err="1">
                <a:latin typeface="Calibri (Body)"/>
              </a:rPr>
              <a:t>raddr_a</a:t>
            </a:r>
            <a:r>
              <a:rPr lang="en-IN" sz="2000" dirty="0">
                <a:latin typeface="Calibri (Body)"/>
              </a:rPr>
              <a:t> = 0; </a:t>
            </a:r>
            <a:r>
              <a:rPr lang="en-IN" sz="2000" dirty="0" err="1">
                <a:latin typeface="Calibri (Body)"/>
              </a:rPr>
              <a:t>raddr_b</a:t>
            </a:r>
            <a:r>
              <a:rPr lang="en-IN" sz="2000" dirty="0">
                <a:latin typeface="Calibri (Body)"/>
              </a:rPr>
              <a:t> = 0; #10;</a:t>
            </a:r>
            <a:br>
              <a:rPr lang="en-IN" sz="2000" dirty="0">
                <a:latin typeface="Calibri (Body)"/>
              </a:rPr>
            </a:br>
            <a:r>
              <a:rPr lang="en-IN" sz="2000" dirty="0">
                <a:latin typeface="Calibri (Body)"/>
              </a:rPr>
              <a:t>we = 1;</a:t>
            </a:r>
            <a:br>
              <a:rPr lang="en-IN" sz="2000" dirty="0">
                <a:latin typeface="Calibri (Body)"/>
              </a:rPr>
            </a:br>
            <a:r>
              <a:rPr lang="en-IN" sz="2000" dirty="0" err="1">
                <a:latin typeface="Calibri (Body)"/>
              </a:rPr>
              <a:t>waddr</a:t>
            </a:r>
            <a:r>
              <a:rPr lang="en-IN" sz="2000" dirty="0">
                <a:latin typeface="Calibri (Body)"/>
              </a:rPr>
              <a:t> =2'b00; din = 1'b0; #10;</a:t>
            </a:r>
            <a:br>
              <a:rPr lang="en-IN" sz="2000" dirty="0">
                <a:latin typeface="Calibri (Body)"/>
              </a:rPr>
            </a:br>
            <a:r>
              <a:rPr lang="en-IN" sz="2000" dirty="0" err="1"/>
              <a:t>waddr</a:t>
            </a:r>
            <a:r>
              <a:rPr lang="en-IN" sz="2000" dirty="0">
                <a:latin typeface="Calibri (Body)"/>
              </a:rPr>
              <a:t> = 2'b01; din = 1'b1; #10;</a:t>
            </a:r>
            <a:br>
              <a:rPr lang="en-IN" sz="2000" dirty="0">
                <a:latin typeface="Calibri (Body)"/>
              </a:rPr>
            </a:br>
            <a:r>
              <a:rPr lang="en-IN" sz="2000" dirty="0" err="1">
                <a:latin typeface="Calibri (Body)"/>
              </a:rPr>
              <a:t>waddr</a:t>
            </a:r>
            <a:r>
              <a:rPr lang="en-IN" sz="2000" dirty="0">
                <a:latin typeface="Calibri (Body)"/>
              </a:rPr>
              <a:t> = 2'b10; din = 1'b0; #10;</a:t>
            </a:r>
            <a:br>
              <a:rPr lang="en-IN" sz="2000" dirty="0">
                <a:latin typeface="Calibri (Body)"/>
              </a:rPr>
            </a:br>
            <a:r>
              <a:rPr lang="en-IN" sz="2000" dirty="0" err="1">
                <a:latin typeface="Calibri (Body)"/>
              </a:rPr>
              <a:t>waddr</a:t>
            </a:r>
            <a:r>
              <a:rPr lang="en-IN" sz="2000" dirty="0">
                <a:latin typeface="Calibri (Body)"/>
              </a:rPr>
              <a:t> = 2'b11; din = 1'b1; #10;</a:t>
            </a:r>
            <a:br>
              <a:rPr lang="en-IN" sz="2000" dirty="0">
                <a:latin typeface="Calibri (Body)"/>
              </a:rPr>
            </a:br>
            <a:r>
              <a:rPr lang="en-IN" sz="2000" dirty="0">
                <a:latin typeface="Calibri (Body)"/>
              </a:rPr>
              <a:t>we= 0;</a:t>
            </a:r>
            <a:br>
              <a:rPr lang="en-IN" sz="2000" dirty="0">
                <a:latin typeface="Calibri (Body)"/>
              </a:rPr>
            </a:br>
            <a:r>
              <a:rPr lang="en-IN" sz="2000" dirty="0" err="1">
                <a:latin typeface="Calibri (Body)"/>
              </a:rPr>
              <a:t>raddr_a</a:t>
            </a:r>
            <a:r>
              <a:rPr lang="en-IN" sz="2000" dirty="0">
                <a:latin typeface="Calibri (Body)"/>
              </a:rPr>
              <a:t> = 2'b00;</a:t>
            </a:r>
            <a:br>
              <a:rPr lang="en-IN" sz="2000" dirty="0">
                <a:latin typeface="Calibri (Body)"/>
              </a:rPr>
            </a:br>
            <a:r>
              <a:rPr lang="en-IN" sz="2000" dirty="0" err="1">
                <a:latin typeface="Calibri (Body)"/>
              </a:rPr>
              <a:t>raddr_b</a:t>
            </a:r>
            <a:r>
              <a:rPr lang="en-IN" sz="2000" dirty="0">
                <a:latin typeface="Calibri (Body)"/>
              </a:rPr>
              <a:t> = 2'b01;</a:t>
            </a:r>
            <a:br>
              <a:rPr lang="en-IN" sz="2000" dirty="0">
                <a:latin typeface="Calibri (Body)"/>
              </a:rPr>
            </a:br>
            <a:r>
              <a:rPr lang="en-IN" sz="2000" dirty="0">
                <a:latin typeface="Calibri (Body)"/>
              </a:rPr>
              <a:t>#10;</a:t>
            </a:r>
            <a:br>
              <a:rPr lang="en-IN" sz="2000" dirty="0">
                <a:latin typeface="Calibri (Body)"/>
              </a:rPr>
            </a:br>
            <a:r>
              <a:rPr lang="en-IN" sz="2000" dirty="0" err="1">
                <a:latin typeface="Calibri (Body)"/>
              </a:rPr>
              <a:t>Raddr_a</a:t>
            </a:r>
            <a:r>
              <a:rPr lang="en-IN" sz="2000" dirty="0">
                <a:latin typeface="Calibri (Body)"/>
              </a:rPr>
              <a:t> = 2'b10;</a:t>
            </a:r>
            <a:br>
              <a:rPr lang="en-IN" sz="2000" dirty="0">
                <a:latin typeface="Calibri (Body)"/>
              </a:rPr>
            </a:br>
            <a:r>
              <a:rPr lang="en-IN" sz="2000" dirty="0" err="1">
                <a:latin typeface="Calibri (Body)"/>
              </a:rPr>
              <a:t>Raddr_b</a:t>
            </a:r>
            <a:r>
              <a:rPr lang="en-IN" sz="2000" dirty="0">
                <a:latin typeface="Calibri (Body)"/>
              </a:rPr>
              <a:t> = 2'b01;</a:t>
            </a:r>
            <a:br>
              <a:rPr lang="en-IN" sz="2000" dirty="0">
                <a:latin typeface="Calibri (Body)"/>
              </a:rPr>
            </a:br>
            <a:r>
              <a:rPr lang="en-IN" sz="2000" dirty="0">
                <a:latin typeface="Calibri (Body)"/>
              </a:rPr>
              <a:t>#10;</a:t>
            </a:r>
            <a:br>
              <a:rPr lang="en-IN" sz="2000" dirty="0">
                <a:latin typeface="Calibri (Body)"/>
              </a:rPr>
            </a:br>
            <a:r>
              <a:rPr lang="en-IN" sz="2000" dirty="0">
                <a:latin typeface="Calibri (Body)"/>
              </a:rPr>
              <a:t>#20;</a:t>
            </a:r>
            <a:br>
              <a:rPr lang="en-IN" sz="2000" dirty="0">
                <a:latin typeface="Calibri (Body)"/>
              </a:rPr>
            </a:br>
            <a:r>
              <a:rPr lang="en-IN" sz="2000" dirty="0">
                <a:latin typeface="Calibri (Body)"/>
              </a:rPr>
              <a:t>End</a:t>
            </a:r>
            <a:br>
              <a:rPr lang="en-IN" sz="2000" dirty="0">
                <a:latin typeface="Calibri (Body)"/>
              </a:rPr>
            </a:br>
            <a:r>
              <a:rPr lang="en-IN" sz="2000" dirty="0" err="1">
                <a:latin typeface="Calibri (Body)"/>
              </a:rPr>
              <a:t>endmodule</a:t>
            </a:r>
            <a:endParaRPr lang="en-IN" sz="2000" dirty="0"/>
          </a:p>
        </p:txBody>
      </p:sp>
      <p:pic>
        <p:nvPicPr>
          <p:cNvPr id="4" name="Picture 3" descr="Shodhganga@INFLIBNET: KLE Technological ...">
            <a:extLst>
              <a:ext uri="{FF2B5EF4-FFF2-40B4-BE49-F238E27FC236}">
                <a16:creationId xmlns:a16="http://schemas.microsoft.com/office/drawing/2014/main" id="{CCC14B22-0AD3-D8C6-1FBB-E4FC82476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92612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748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4626-1FE0-E485-A738-82497ED4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SIMULATION RESULT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B114CF-28CF-AE4B-80D8-587853E18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11" y="2263224"/>
            <a:ext cx="5366171" cy="33840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BBA0F2-0735-C2AA-C52A-6FA442353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010" y="2263225"/>
            <a:ext cx="5316279" cy="3372514"/>
          </a:xfrm>
          <a:prstGeom prst="rect">
            <a:avLst/>
          </a:prstGeom>
        </p:spPr>
      </p:pic>
      <p:pic>
        <p:nvPicPr>
          <p:cNvPr id="8" name="Picture 7" descr="Shodhganga@INFLIBNET: KLE Technological ...">
            <a:extLst>
              <a:ext uri="{FF2B5EF4-FFF2-40B4-BE49-F238E27FC236}">
                <a16:creationId xmlns:a16="http://schemas.microsoft.com/office/drawing/2014/main" id="{5156BF4A-CDD0-698C-31C5-C4829D5F3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92612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17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EE31-9718-85B7-BA74-71D1EF3D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IMPLEMENTATION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Picture 3" descr="Shodhganga@INFLIBNET: KLE Technological ...">
            <a:extLst>
              <a:ext uri="{FF2B5EF4-FFF2-40B4-BE49-F238E27FC236}">
                <a16:creationId xmlns:a16="http://schemas.microsoft.com/office/drawing/2014/main" id="{9F71B06C-7B91-2414-556D-C67762D21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101079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ACCD59-E68D-F06D-CDF2-FDC748187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5409" y="2154408"/>
            <a:ext cx="5661838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3A62-2CDD-6FFC-557B-8EB1A62B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SYNTHESIS REPORT</a:t>
            </a:r>
            <a:endParaRPr lang="en-IN" dirty="0"/>
          </a:p>
        </p:txBody>
      </p:sp>
      <p:pic>
        <p:nvPicPr>
          <p:cNvPr id="6" name="Picture 5" descr="Shodhganga@INFLIBNET: KLE Technological ...">
            <a:extLst>
              <a:ext uri="{FF2B5EF4-FFF2-40B4-BE49-F238E27FC236}">
                <a16:creationId xmlns:a16="http://schemas.microsoft.com/office/drawing/2014/main" id="{939A0B3A-1F90-D6F5-4B96-FC161F735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26" y="109546"/>
            <a:ext cx="3125100" cy="5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76064D-317C-DF50-9F09-037870651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737360"/>
            <a:ext cx="5108082" cy="28452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FF2008-5962-4DB8-4AD1-D8028D449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01" y="4582634"/>
            <a:ext cx="6148608" cy="173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4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F00C8-9F01-EFD2-E822-7BCF899F3AD2}"/>
              </a:ext>
            </a:extLst>
          </p:cNvPr>
          <p:cNvSpPr txBox="1"/>
          <p:nvPr/>
        </p:nvSpPr>
        <p:spPr>
          <a:xfrm>
            <a:off x="4013200" y="2575468"/>
            <a:ext cx="51392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2429846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165</TotalTime>
  <Words>450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Calibri (Body)</vt:lpstr>
      <vt:lpstr>Calibri Light</vt:lpstr>
      <vt:lpstr>Wingdings</vt:lpstr>
      <vt:lpstr>Retrospect</vt:lpstr>
      <vt:lpstr>PowerPoint Presentation</vt:lpstr>
      <vt:lpstr>INTRODUCTION</vt:lpstr>
      <vt:lpstr>BLOCK DIAGRAM</vt:lpstr>
      <vt:lpstr>FLOW CHART</vt:lpstr>
      <vt:lpstr>VERLOG CODE</vt:lpstr>
      <vt:lpstr>PowerPoint Presentation</vt:lpstr>
      <vt:lpstr>TEST BENCH</vt:lpstr>
      <vt:lpstr>PowerPoint Presentation</vt:lpstr>
      <vt:lpstr>SIMULATION RESULT</vt:lpstr>
      <vt:lpstr>IMPLEMENTATION</vt:lpstr>
      <vt:lpstr>SYNTHESIS REPORT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GOKUL</dc:creator>
  <cp:lastModifiedBy>Manoj A</cp:lastModifiedBy>
  <cp:revision>9</cp:revision>
  <dcterms:created xsi:type="dcterms:W3CDTF">2026-01-01T16:11:07Z</dcterms:created>
  <dcterms:modified xsi:type="dcterms:W3CDTF">2026-06-20T10:53:00Z</dcterms:modified>
</cp:coreProperties>
</file>